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Premium Income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Premium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Dec</c:v>
                  </c:pt>
                  <c:pt idx="1">
                    <c:v>Jan</c:v>
                  </c:pt>
                  <c:pt idx="2">
                    <c:v>Feb</c:v>
                  </c:pt>
                  <c:pt idx="3">
                    <c:v>Mar</c:v>
                  </c:pt>
                  <c:pt idx="4">
                    <c:v>Apr</c:v>
                  </c:pt>
                  <c:pt idx="5">
                    <c:v>May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5200</c:v>
                </c:pt>
                <c:pt idx="1">
                  <c:v>7800</c:v>
                </c:pt>
                <c:pt idx="2">
                  <c:v>6400</c:v>
                </c:pt>
                <c:pt idx="3">
                  <c:v>8900</c:v>
                </c:pt>
                <c:pt idx="4">
                  <c:v>7200</c:v>
                </c:pt>
                <c:pt idx="5">
                  <c:v>6130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5-1.png"/><Relationship Id="rId3" Type="http://schemas.openxmlformats.org/officeDocument/2006/relationships/image" Target="../media/image-15-2.png"/><Relationship Id="rId4" Type="http://schemas.openxmlformats.org/officeDocument/2006/relationships/image" Target="../media/image-1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3200400" cy="166878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Tracker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Spreadsheet to AI-Powered Trading Platform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Finance Story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54864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DiMarzio  |  May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— Anthropic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background to live demo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94360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325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6916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into options trading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234440"/>
            <a:ext cx="594360" cy="868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630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32120" y="1325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32120" y="16916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Excel wasn't enough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31720"/>
            <a:ext cx="594360" cy="86868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603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2423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Started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7889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game, the spreadsheet, the idea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33172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331720"/>
            <a:ext cx="594360" cy="8686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5603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2423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Capabilities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27889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 today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429000"/>
            <a:ext cx="594360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65760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3000" y="3520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Walkthrough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3886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contracts, analytics, automation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42900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429000"/>
            <a:ext cx="594360" cy="86868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65760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32120" y="3520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32120" y="3886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SAGE, DANI, and the AI ecosystem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Background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Behind the App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Background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here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1371600"/>
          </a:xfrm>
          <a:prstGeom prst="rect">
            <a:avLst/>
          </a:prstGeom>
          <a:solidFill>
            <a:srgbClr val="1E6B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716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3441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Interest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17099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interest in generating passive income through options trading — specifically covered calls and cash-secured puts across Schwab and ETrade accounts.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23444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234440"/>
            <a:ext cx="64008" cy="1371600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3716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3248" y="13441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Podcasts &amp; Learning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10912" y="17099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into options strategies through podcasts and self-study. Developed a systematic approach to the Wheel strategy — sell puts, get assigned, sell calls.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788920"/>
            <a:ext cx="64008" cy="1371600"/>
          </a:xfrm>
          <a:prstGeom prst="rect">
            <a:avLst/>
          </a:prstGeom>
          <a:solidFill>
            <a:srgbClr val="5B21B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9260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4128" y="28986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Claude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1792" y="32644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using Claude as a coding collaborator. Realized I could build exactly what I needed — not settle for generic tools that don't fit my workflow.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46320" y="278892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2788920"/>
            <a:ext cx="64008" cy="137160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29260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3248" y="28986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010912" y="32644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consistent monthly premium income while growing the underlying stock portfolio. Options as yield on existing holdings.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Problem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tools weren't working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broken before this app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4114800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52728"/>
            <a:ext cx="64008" cy="1490472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325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actually making money?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17830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know if you're truly profiting or losing across multiple accounts, strategies, and time periods. Broker UIs show position value — not net premium income.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18872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188720"/>
            <a:ext cx="4114800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Shape 10"/>
          <p:cNvSpPr/>
          <p:nvPr/>
        </p:nvSpPr>
        <p:spPr>
          <a:xfrm>
            <a:off x="4846320" y="1252728"/>
            <a:ext cx="64008" cy="1490472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716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325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my contracts worth RIGHT NOW?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83480" y="17830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apps show current price but don't contextualize it against what you sold for. You need to know: am I at 65% profit? Should I close now?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292608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926080"/>
            <a:ext cx="4114800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Shape 15"/>
          <p:cNvSpPr/>
          <p:nvPr/>
        </p:nvSpPr>
        <p:spPr>
          <a:xfrm>
            <a:off x="457200" y="2990088"/>
            <a:ext cx="64008" cy="1490472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089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05840" y="3063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accounts, one brain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94360" y="35204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positions across Schwab AND ETrade simultaneously — different UIs, different data formats, no unified view.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846320" y="292608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46320" y="2926080"/>
            <a:ext cx="4114800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Shape 20"/>
          <p:cNvSpPr/>
          <p:nvPr/>
        </p:nvSpPr>
        <p:spPr>
          <a:xfrm>
            <a:off x="4846320" y="2990088"/>
            <a:ext cx="64008" cy="1490472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0896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94960" y="3063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has limits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983480" y="35204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can pull in the underlying stock price via add-ins, but not live option chain pricing. And it definitely can't send you a push notification when it's time to close.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How It Started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game, to a spreadsheet, to this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Started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from hobby project to trading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91640"/>
            <a:ext cx="36576" cy="9601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280160"/>
            <a:ext cx="402336" cy="402336"/>
          </a:xfrm>
          <a:prstGeom prst="oval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1234440"/>
            <a:ext cx="7498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1234440"/>
            <a:ext cx="54864" cy="7315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572768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project with Claude: built a browser-based urinal etiquette game. Proved I could build real interactive apps from scratch with AI assistance.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" y="2606040"/>
            <a:ext cx="36576" cy="9601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194560"/>
            <a:ext cx="402336" cy="402336"/>
          </a:xfrm>
          <a:prstGeom prst="oval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2148840"/>
            <a:ext cx="7498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7280" y="2148840"/>
            <a:ext cx="54864" cy="7315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Spreadsheet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487168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tracking options trades in Excel. Could pull stock prices. Couldn't get live option prices. Couldn't get notifications. Hit the ceiling fast.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" y="3520440"/>
            <a:ext cx="36576" cy="9601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108960"/>
            <a:ext cx="402336" cy="402336"/>
          </a:xfrm>
          <a:prstGeom prst="oval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1089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97280" y="3063240"/>
            <a:ext cx="7498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97280" y="3063240"/>
            <a:ext cx="54864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Objective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3401568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"Track my options trades and pull in live prices." Simple goal. That's it. No signals, no automation, no ML. Just a better spreadsheet.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023360"/>
            <a:ext cx="402336" cy="402336"/>
          </a:xfrm>
          <a:prstGeom prst="oval">
            <a:avLst/>
          </a:prstGeom>
          <a:solidFill>
            <a:srgbClr val="1E6B3C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40233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97280" y="3977640"/>
            <a:ext cx="7498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97280" y="3977640"/>
            <a:ext cx="54864" cy="73152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30" name="Text 28"/>
          <p:cNvSpPr/>
          <p:nvPr/>
        </p:nvSpPr>
        <p:spPr>
          <a:xfrm>
            <a:off x="123444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4315968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Auto-imports all trades, fires signals, auto-opens and closes positions, runs ML simulations, and is building toward a full AI agent ecosystem.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Current Capabilities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today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Capabilities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2651760" cy="54864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25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Auto-Imports All Trades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1801368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transactions from Schwab AND ETrade every 15 min. Deduplicates, handles partial fills, flags anomalies.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14300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143000"/>
            <a:ext cx="2651760" cy="54864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258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325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01568" y="1801368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Pushover alerts when it's time to close a position, open a new one, or something needs attention.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14300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143000"/>
            <a:ext cx="2651760" cy="54864"/>
          </a:xfrm>
          <a:prstGeom prst="rect">
            <a:avLst/>
          </a:prstGeom>
          <a:solidFill>
            <a:srgbClr val="1E6B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0840" y="1325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Auto-Closes Positions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36208" y="1801368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Rules-based: 'Close at 65% profit after 3pm.' System monitors prices and executes the close automatically.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283464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2834640"/>
            <a:ext cx="2651760" cy="54864"/>
          </a:xfrm>
          <a:prstGeom prst="rect">
            <a:avLst/>
          </a:prstGeom>
          <a:solidFill>
            <a:srgbClr val="5B21B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175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017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Auto-Opens Positions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66928" y="3493008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scoring determines when to sell a new covered call. Previews the order, gets approval, places it live.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91840" y="283464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2834640"/>
            <a:ext cx="2651760" cy="54864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01752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86200" y="3017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Model (SAGE)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401568" y="3493008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Flag-based risk scoring. IV rank, Fibonacci levels, support/resistance, ticker tier — all DB-driven, no code deploy to adjust.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26480" y="283464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26480" y="2834640"/>
            <a:ext cx="2651760" cy="54864"/>
          </a:xfrm>
          <a:prstGeom prst="rect">
            <a:avLst/>
          </a:prstGeom>
          <a:solidFill>
            <a:srgbClr val="1E6B3C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01752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20840" y="3017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(DANI)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36208" y="3493008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real intraday chain data every 5 min. Runs 1,440 strategy variants to find optimal OTM%, target%, stop% per ticker.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 from the first six months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2011680"/>
          </a:xfrm>
          <a:prstGeom prst="rect">
            <a:avLst/>
          </a:prstGeom>
          <a:solidFill>
            <a:srgbClr val="1E6B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89888"/>
            <a:ext cx="192024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$41,630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19202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Income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280160"/>
            <a:ext cx="1920240" cy="201168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389888"/>
            <a:ext cx="192024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06040" y="2487168"/>
            <a:ext cx="19202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1920240" cy="201168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389888"/>
            <a:ext cx="192024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2487168"/>
            <a:ext cx="19202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280160"/>
            <a:ext cx="1920240" cy="2011680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389888"/>
            <a:ext cx="192024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03720" y="2487168"/>
            <a:ext cx="192024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data collection  ·  12 API endpoints  ·  78 snapshots/trading day  ·  Auto-imports every 15 min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App Walkthrough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Contracts · Analytics · Automation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trading command center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80160"/>
            <a:ext cx="1828800" cy="82296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984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$41,630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764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YTD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280160"/>
            <a:ext cx="1828800" cy="8229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2984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1764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1828800" cy="82296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2984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9160" y="1764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Positions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280160"/>
            <a:ext cx="1828800" cy="822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2984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1764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2542032"/>
            <a:ext cx="182880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2542032"/>
            <a:ext cx="1280160" cy="164592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5420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  70%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788920"/>
            <a:ext cx="1828800" cy="1645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2788920"/>
            <a:ext cx="822960" cy="16459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7889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Target  45%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06040" y="22402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Positions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06040" y="2587752"/>
            <a:ext cx="594360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2697480" y="26609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26609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69080" y="26609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$267.50 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32120" y="26609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26609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+49.6%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06040" y="2971800"/>
            <a:ext cx="5943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2697480" y="30449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29000" y="30449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69080" y="3044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$302.50 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32120" y="3044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37960" y="3044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+62.1%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06040" y="3355848"/>
            <a:ext cx="594360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Text 37"/>
          <p:cNvSpPr/>
          <p:nvPr/>
        </p:nvSpPr>
        <p:spPr>
          <a:xfrm>
            <a:off x="2697480" y="342900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429000" y="34290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69080" y="3429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$227.50 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32120" y="34290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37960" y="34290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-12.3%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606040" y="3739896"/>
            <a:ext cx="5943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2697480" y="38130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WDC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429000" y="38130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69080" y="3813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$492.50 C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32120" y="3813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537960" y="3813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4462272"/>
            <a:ext cx="146304" cy="146304"/>
          </a:xfrm>
          <a:prstGeom prst="oval">
            <a:avLst/>
          </a:prstGeom>
          <a:solidFill>
            <a:srgbClr val="1E6B3C"/>
          </a:solidFill>
          <a:ln/>
        </p:spPr>
      </p:sp>
      <p:sp>
        <p:nvSpPr>
          <p:cNvPr id="51" name="Text 49"/>
          <p:cNvSpPr/>
          <p:nvPr/>
        </p:nvSpPr>
        <p:spPr>
          <a:xfrm>
            <a:off x="658368" y="4434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YTD/MTD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06040" y="4462272"/>
            <a:ext cx="146304" cy="146304"/>
          </a:xfrm>
          <a:prstGeom prst="oval">
            <a:avLst/>
          </a:prstGeom>
          <a:solidFill>
            <a:srgbClr val="B45309"/>
          </a:solidFill>
          <a:ln/>
        </p:spPr>
      </p:sp>
      <p:sp>
        <p:nvSpPr>
          <p:cNvPr id="53" name="Text 51"/>
          <p:cNvSpPr/>
          <p:nvPr/>
        </p:nvSpPr>
        <p:spPr>
          <a:xfrm>
            <a:off x="2807208" y="4434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54880" y="4462272"/>
            <a:ext cx="146304" cy="146304"/>
          </a:xfrm>
          <a:prstGeom prst="oval">
            <a:avLst/>
          </a:prstGeom>
          <a:solidFill>
            <a:srgbClr val="2E75B6"/>
          </a:solidFill>
          <a:ln/>
        </p:spPr>
      </p:sp>
      <p:sp>
        <p:nvSpPr>
          <p:cNvPr id="55" name="Text 53"/>
          <p:cNvSpPr/>
          <p:nvPr/>
        </p:nvSpPr>
        <p:spPr>
          <a:xfrm>
            <a:off x="4956048" y="4434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03720" y="4462272"/>
            <a:ext cx="146304" cy="146304"/>
          </a:xfrm>
          <a:prstGeom prst="oval">
            <a:avLst/>
          </a:prstGeom>
          <a:solidFill>
            <a:srgbClr val="5B21B6"/>
          </a:solidFill>
          <a:ln/>
        </p:spPr>
      </p:sp>
      <p:sp>
        <p:nvSpPr>
          <p:cNvPr id="57" name="Text 55"/>
          <p:cNvSpPr/>
          <p:nvPr/>
        </p:nvSpPr>
        <p:spPr>
          <a:xfrm>
            <a:off x="7104888" y="4434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&amp; P&amp;L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Contracts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pricing on every position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252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Option Prices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15361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Bid/ask/mid refreshed from Schwab chain data every 5 minutes during market hours.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02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Value &amp; P&amp;L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68680" y="24963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gain/loss per contract. Color-coded: green = profit target approaching, red = stop approaching.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Fields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68680" y="34564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Show/hide columns per your preference. Strike, DTE, delta, IV, OTM% — all available.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6052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Closed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68680" y="44165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to see closed positions with realized P&amp;L. Full history always accessible.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297680" y="1143000"/>
            <a:ext cx="43891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297680" y="1143000"/>
            <a:ext cx="438912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3"/>
          <p:cNvSpPr/>
          <p:nvPr/>
        </p:nvSpPr>
        <p:spPr>
          <a:xfrm>
            <a:off x="4343400" y="11887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221224" y="11887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099048" y="11887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976872" y="11887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854696" y="11887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Gain%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97680" y="1490472"/>
            <a:ext cx="43891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19"/>
          <p:cNvSpPr/>
          <p:nvPr/>
        </p:nvSpPr>
        <p:spPr>
          <a:xfrm>
            <a:off x="4343400" y="15727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221224" y="15727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267.50C 5/22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099048" y="15727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$786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976872" y="15727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854696" y="15727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297680" y="1837944"/>
            <a:ext cx="43891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5"/>
          <p:cNvSpPr/>
          <p:nvPr/>
        </p:nvSpPr>
        <p:spPr>
          <a:xfrm>
            <a:off x="4343400" y="1920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221224" y="1920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302.50P 5/22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099048" y="1920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$368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976872" y="1920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$1.41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854696" y="1920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+23%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297680" y="2185416"/>
            <a:ext cx="43891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1"/>
          <p:cNvSpPr/>
          <p:nvPr/>
        </p:nvSpPr>
        <p:spPr>
          <a:xfrm>
            <a:off x="4343400" y="2267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5221224" y="2267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227.50C 5/22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6099048" y="2267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-$1,472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6976872" y="2267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$2.45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7854696" y="2267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-212%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4297680" y="2532888"/>
            <a:ext cx="43891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37"/>
          <p:cNvSpPr/>
          <p:nvPr/>
        </p:nvSpPr>
        <p:spPr>
          <a:xfrm>
            <a:off x="4343400" y="26151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WDC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5221224" y="26151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492.50C 5/22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6099048" y="26151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$958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6976872" y="26151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$15.43</a:t>
            </a:r>
            <a:endParaRPr lang="en-US" sz="1000" dirty="0"/>
          </a:p>
        </p:txBody>
      </p:sp>
      <p:sp>
        <p:nvSpPr>
          <p:cNvPr id="47" name="Text 41"/>
          <p:cNvSpPr/>
          <p:nvPr/>
        </p:nvSpPr>
        <p:spPr>
          <a:xfrm>
            <a:off x="7854696" y="26151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-61%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4297680" y="2880360"/>
            <a:ext cx="43891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3"/>
          <p:cNvSpPr/>
          <p:nvPr/>
        </p:nvSpPr>
        <p:spPr>
          <a:xfrm>
            <a:off x="4343400" y="29626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5221224" y="29626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302.50C 5/29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6099048" y="29626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$247</a:t>
            </a:r>
            <a:endParaRPr lang="en-US" sz="1000" dirty="0"/>
          </a:p>
        </p:txBody>
      </p:sp>
      <p:sp>
        <p:nvSpPr>
          <p:cNvPr id="52" name="Text 46"/>
          <p:cNvSpPr/>
          <p:nvPr/>
        </p:nvSpPr>
        <p:spPr>
          <a:xfrm>
            <a:off x="6976872" y="29626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$0.46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7854696" y="29626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+81%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4297680" y="3227832"/>
            <a:ext cx="43891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49"/>
          <p:cNvSpPr/>
          <p:nvPr/>
        </p:nvSpPr>
        <p:spPr>
          <a:xfrm>
            <a:off x="4343400" y="33101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OKLO</a:t>
            </a:r>
            <a:endParaRPr lang="en-US" sz="1000" dirty="0"/>
          </a:p>
        </p:txBody>
      </p:sp>
      <p:sp>
        <p:nvSpPr>
          <p:cNvPr id="56" name="Text 50"/>
          <p:cNvSpPr/>
          <p:nvPr/>
        </p:nvSpPr>
        <p:spPr>
          <a:xfrm>
            <a:off x="5221224" y="33101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59C 5/22</a:t>
            </a:r>
            <a:endParaRPr lang="en-US" sz="1000" dirty="0"/>
          </a:p>
        </p:txBody>
      </p:sp>
      <p:sp>
        <p:nvSpPr>
          <p:cNvPr id="57" name="Text 51"/>
          <p:cNvSpPr/>
          <p:nvPr/>
        </p:nvSpPr>
        <p:spPr>
          <a:xfrm>
            <a:off x="6099048" y="33101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$1,252</a:t>
            </a:r>
            <a:endParaRPr lang="en-US" sz="1000" dirty="0"/>
          </a:p>
        </p:txBody>
      </p:sp>
      <p:sp>
        <p:nvSpPr>
          <p:cNvPr id="58" name="Text 52"/>
          <p:cNvSpPr/>
          <p:nvPr/>
        </p:nvSpPr>
        <p:spPr>
          <a:xfrm>
            <a:off x="6976872" y="33101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$5.20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7854696" y="33101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-298%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your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457200" y="114300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18872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188720"/>
            <a:ext cx="54864" cy="91440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258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12984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 / Week / Day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760720" y="16642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performance any way you want. Identify patterns — are Mondays better? Is December slower?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669280" y="224028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69280" y="2240280"/>
            <a:ext cx="54864" cy="91440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3774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2350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Date vs Close Date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760720" y="271576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long you hold positions. Optimize for premium decay vs time risk.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669280" y="329184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669280" y="3291840"/>
            <a:ext cx="54864" cy="91440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4290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72200" y="34015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760720" y="376732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natural language: 'How did my NVDA trades perform last month?' Claude answers from your actual data.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Auto-Import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come to you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141732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258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2984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15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166420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 + ETrade fetched automatically. No manual CSV exports.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18872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188720"/>
            <a:ext cx="64008" cy="1417320"/>
          </a:xfrm>
          <a:prstGeom prst="rect">
            <a:avLst/>
          </a:prstGeom>
          <a:solidFill>
            <a:srgbClr val="1E6B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3258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3248" y="12984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Deduplication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10912" y="166420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ETrade partial fills, re-issued transaction IDs, and same-day duplicates without creating messy data.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788920"/>
            <a:ext cx="64008" cy="1417320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9260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4128" y="28986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Pushover Notification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1792" y="326440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push notification on your phone the moment transactions are imported. Opens: 2 STO, Closes: 1 BTC.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46320" y="278892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2788920"/>
            <a:ext cx="64008" cy="1417320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29260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3248" y="28986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Flagging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010912" y="326440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unusual — assignments, unmatched closes, split fills — goes to a review queue with full raw data.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Under the Hood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· DANI · The AI Ecosystem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— Scoring &amp; Gating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behind automated signals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SAGE does: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Flag-based risk model — not a single score, but a set of boolean risk flags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DB-driven — change weights in Supabase, no code deploy needed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auto-STO: only fires when risk flags are clear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Factors: IV rank, Fibonacci levels, Bollinger %B, Support/Resistance, gap flag, ticker tier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written to audit log for full traceability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Tiers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691640"/>
            <a:ext cx="3566160" cy="777240"/>
          </a:xfrm>
          <a:prstGeom prst="rect">
            <a:avLst/>
          </a:prstGeom>
          <a:solidFill>
            <a:srgbClr val="1E6B3C">
              <a:alpha val="10000"/>
            </a:srgbClr>
          </a:solidFill>
          <a:ln w="6350">
            <a:solidFill>
              <a:srgbClr val="1E6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691640"/>
            <a:ext cx="731520" cy="77724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745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60720" y="1764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AAPL, AMZN, JPM, COST, MSFT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2103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auto-STO eligible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2651760"/>
            <a:ext cx="3566160" cy="777240"/>
          </a:xfrm>
          <a:prstGeom prst="rect">
            <a:avLst/>
          </a:prstGeom>
          <a:solidFill>
            <a:srgbClr val="B45309">
              <a:alpha val="10000"/>
            </a:srgbClr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2651760"/>
            <a:ext cx="731520" cy="777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8346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2724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NVDA, CAT, CEG, AMD, AVGO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3063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Auto-STO with wider OTM gate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3611880"/>
            <a:ext cx="3566160" cy="777240"/>
          </a:xfrm>
          <a:prstGeom prst="rect">
            <a:avLst/>
          </a:prstGeom>
          <a:solidFill>
            <a:srgbClr val="991B1B">
              <a:alpha val="10000"/>
            </a:srgbClr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3611880"/>
            <a:ext cx="731520" cy="77724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7947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0" y="3685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OKLO, WDC, PLTR, TSLA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4023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only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 — Simulation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real prices, not estimates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Black-Scholes: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backtesting uses Black-Scholes to estimate option prices — a formula, not real market data. DANI collects actual live chain prices every 5 minutes and tests what really would have happened.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31720"/>
            <a:ext cx="2651760" cy="50292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231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2423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94360" y="292608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chain snapshots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OTM + 8 ITM strikes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Greeks + trend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VIX, SMA, RSI, trend regime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233172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2331720"/>
            <a:ext cx="2651760" cy="502920"/>
          </a:xfrm>
          <a:prstGeom prst="rect">
            <a:avLst/>
          </a:prstGeom>
          <a:solidFill>
            <a:srgbClr val="5B21B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4231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6200" y="2423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20440" y="292608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1,440 strategy variants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OTM%, target%, stop%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hour, DTE, day of week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regime, trend regime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309360" y="233172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09360" y="2331720"/>
            <a:ext cx="2651760" cy="502920"/>
          </a:xfrm>
          <a:prstGeom prst="rect">
            <a:avLst/>
          </a:prstGeom>
          <a:solidFill>
            <a:srgbClr val="1E6B3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231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2423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46520" y="292608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per variant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per dollar risked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 per ticker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back into SAGE weights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 Vision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 agents sharing one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1920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1920240" cy="64008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2344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Agentic Management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33172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project tracker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life categories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+ scoring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4343400"/>
            <a:ext cx="1737360" cy="2011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43434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06040" y="1143000"/>
            <a:ext cx="1920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06040" y="1143000"/>
            <a:ext cx="1920240" cy="640080"/>
          </a:xfrm>
          <a:prstGeom prst="rect">
            <a:avLst/>
          </a:prstGeom>
          <a:solidFill>
            <a:srgbClr val="1E6B3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2344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36392" y="12344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697480" y="1874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 Research Intelligence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697480" y="233172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8am morning briefing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Claude-powered synthesis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flags for scanner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697480" y="4343400"/>
            <a:ext cx="1737360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6"/>
          <p:cNvSpPr/>
          <p:nvPr/>
        </p:nvSpPr>
        <p:spPr>
          <a:xfrm>
            <a:off x="2697480" y="43434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Next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754880" y="1143000"/>
            <a:ext cx="1920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54880" y="1143000"/>
            <a:ext cx="1920240" cy="640080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3444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85232" y="12344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846320" y="1874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Information Agent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846320" y="233172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intraday alerts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spikes, ITM risk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Position-aware notifications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846320" y="4343400"/>
            <a:ext cx="1737360" cy="2011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Text 23"/>
          <p:cNvSpPr/>
          <p:nvPr/>
        </p:nvSpPr>
        <p:spPr>
          <a:xfrm>
            <a:off x="4846320" y="43434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903720" y="1143000"/>
            <a:ext cx="1920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903720" y="1143000"/>
            <a:ext cx="1920240" cy="640080"/>
          </a:xfrm>
          <a:prstGeom prst="rect">
            <a:avLst/>
          </a:prstGeom>
          <a:solidFill>
            <a:srgbClr val="5B21B6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234440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434072" y="12344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Tracker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DANI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995160" y="1874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Options Dashboard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995160" y="233172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trading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scoring 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simulation ML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995160" y="4343400"/>
            <a:ext cx="1737360" cy="201168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36" name="Text 30"/>
          <p:cNvSpPr/>
          <p:nvPr/>
        </p:nvSpPr>
        <p:spPr>
          <a:xfrm>
            <a:off x="6995160" y="43434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Supabase Database  —  36 Tables  —  Interface Tables for Agent-to-Agent Communication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474720"/>
            <a:ext cx="3200400" cy="16687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31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'can I track my options?' to a full AI-powered trading platform.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$41,630 income 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brokers integrated 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developer + Claude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Next: BRIA morning briefings  ·  DANI ML optimization  ·  MIA real-time alerts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6400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Options Tracker — App Walkthrough</dc:title>
  <dc:subject>PptxGenJS Presentation</dc:subject>
  <dc:creator>PptxGenJS</dc:creator>
  <cp:lastModifiedBy>PptxGenJS</cp:lastModifiedBy>
  <cp:revision>1</cp:revision>
  <dcterms:created xsi:type="dcterms:W3CDTF">2026-05-24T18:06:47Z</dcterms:created>
  <dcterms:modified xsi:type="dcterms:W3CDTF">2026-05-24T18:06:47Z</dcterms:modified>
</cp:coreProperties>
</file>